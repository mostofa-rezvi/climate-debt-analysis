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68" r:id="rId3"/>
    <p:sldId id="269" r:id="rId4"/>
    <p:sldId id="270" r:id="rId5"/>
    <p:sldId id="271" r:id="rId6"/>
    <p:sldId id="272" r:id="rId7"/>
    <p:sldId id="273" r:id="rId8"/>
    <p:sldId id="274" r:id="rId9"/>
    <p:sldId id="275" r:id="rId10"/>
    <p:sldId id="276" r:id="rId11"/>
    <p:sldId id="278" r:id="rId12"/>
    <p:sldId id="279"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MxDvecdO7bvdvaHgzpCzyGdf2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A2280E-2C1D-417E-9B28-B857016DC863}">
  <a:tblStyle styleId="{02A2280E-2C1D-417E-9B28-B857016DC863}"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E7E6"/>
          </a:solidFill>
        </a:fill>
      </a:tcStyle>
    </a:wholeTbl>
    <a:band1H>
      <a:tcTxStyle/>
      <a:tcStyle>
        <a:tcBdr/>
        <a:fill>
          <a:solidFill>
            <a:srgbClr val="E0CCCA"/>
          </a:solidFill>
        </a:fill>
      </a:tcStyle>
    </a:band1H>
    <a:band2H>
      <a:tcTxStyle/>
      <a:tcStyle>
        <a:tcBdr/>
      </a:tcStyle>
    </a:band2H>
    <a:band1V>
      <a:tcTxStyle/>
      <a:tcStyle>
        <a:tcBdr/>
        <a:fill>
          <a:solidFill>
            <a:srgbClr val="E0CCCA"/>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What has been done on the problem and the data in the literature?</a:t>
            </a:r>
            <a:endParaRPr dirty="0"/>
          </a:p>
        </p:txBody>
      </p:sp>
      <p:sp>
        <p:nvSpPr>
          <p:cNvPr id="241" name="Google Shape;24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309A0F3-0B8A-1D8A-2398-7F778D430BCF}"/>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85F4FCC2-16A8-102B-F6E0-DD33D10AD8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B2C5B09B-BEE8-F68C-F147-7B4BAC09E2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3610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63B0D902-96AE-CEF4-606B-E0CB5B0197D6}"/>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91A6EE6E-03CC-81B3-5D7D-A40ABE889C4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58BAB374-ED2B-D861-7C2E-AE48C9193E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E194870F-EF3C-DDAB-922B-A96E89C9D1D9}"/>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FB142255-D8F6-5F5A-8C78-E5BA565220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EC2484BE-AB8F-4F94-0AAD-C3F26F36EF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1913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DC1DA16B-B26A-D9AB-673D-6294E3BCC795}"/>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09027701-8EE3-2928-6BFD-155D7711B7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3A082E18-9E84-54A2-5381-A00497EC37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363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408DB1EF-4649-E7DD-B2D0-2526E04E3AA0}"/>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A8BBE4C7-4DD0-07E8-1B0C-8BC23FD3F1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C149AF64-5A77-5848-6606-D5EF86FD42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8001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6A55929-78AC-00F6-5CCB-67581207DCD2}"/>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D32B1A9C-71AB-92C6-28B7-350F857AC7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9DC02A9C-0FA3-A2A1-C720-2837FB3C2A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273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0A7A73E1-BF52-1BA7-10C9-2AAF93810D5B}"/>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A589C6E6-DCC0-4580-87B9-39B8CF345C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C8AE7525-2938-1B8F-4646-0F3AD334A3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0867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2C1B35D0-B498-8661-5FEC-C1CF4FF59254}"/>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6E90CB34-4FD6-130D-D26A-36CD56BA07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2A65F582-404B-CAFE-B046-0C24B70566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3614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ACE24EDD-3FE5-ADE7-221A-7405F018DF83}"/>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54DF4FBD-D99B-3F61-C136-FCFCE8F7E5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1F9B0688-1411-8EF3-5078-AB9D86C2D0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8932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753EFA0-69C0-2FF4-8A13-ADC31B8F0F77}"/>
            </a:ext>
          </a:extLst>
        </p:cNvPr>
        <p:cNvGrpSpPr/>
        <p:nvPr/>
      </p:nvGrpSpPr>
      <p:grpSpPr>
        <a:xfrm>
          <a:off x="0" y="0"/>
          <a:ext cx="0" cy="0"/>
          <a:chOff x="0" y="0"/>
          <a:chExt cx="0" cy="0"/>
        </a:xfrm>
      </p:grpSpPr>
      <p:sp>
        <p:nvSpPr>
          <p:cNvPr id="240" name="Google Shape;240;p13:notes">
            <a:extLst>
              <a:ext uri="{FF2B5EF4-FFF2-40B4-BE49-F238E27FC236}">
                <a16:creationId xmlns:a16="http://schemas.microsoft.com/office/drawing/2014/main" id="{B4E50AAE-49C4-12BC-DD64-1A13FFAE7B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a:extLst>
              <a:ext uri="{FF2B5EF4-FFF2-40B4-BE49-F238E27FC236}">
                <a16:creationId xmlns:a16="http://schemas.microsoft.com/office/drawing/2014/main" id="{0DA26369-1321-3BE7-5A35-C8FE60585C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335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p23"/>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3"/>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a:endParaRPr/>
          </a:p>
        </p:txBody>
      </p:sp>
      <p:sp>
        <p:nvSpPr>
          <p:cNvPr id="45" name="Google Shape;45;p2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p:nvPr/>
        </p:nvSpPr>
        <p:spPr>
          <a:xfrm>
            <a:off x="0" y="4323810"/>
            <a:ext cx="1744652" cy="778589"/>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3"/>
          <p:cNvSpPr txBox="1">
            <a:spLocks noGrp="1"/>
          </p:cNvSpPr>
          <p:nvPr>
            <p:ph type="sldNum" idx="12"/>
          </p:nvPr>
        </p:nvSpPr>
        <p:spPr>
          <a:xfrm>
            <a:off x="531812" y="4529540"/>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4"/>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52" name="Google Shape;52;p2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4"/>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4"/>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2589212" y="2058750"/>
            <a:ext cx="8915399"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5"/>
          <p:cNvSpPr txBox="1">
            <a:spLocks noGrp="1"/>
          </p:cNvSpPr>
          <p:nvPr>
            <p:ph type="body" idx="1"/>
          </p:nvPr>
        </p:nvSpPr>
        <p:spPr>
          <a:xfrm>
            <a:off x="2589212" y="3530129"/>
            <a:ext cx="891539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2000"/>
              <a:buNone/>
              <a:defRPr sz="20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59" name="Google Shape;59;p2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5"/>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5"/>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6"/>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6" name="Google Shape;66;p26"/>
          <p:cNvSpPr txBox="1">
            <a:spLocks noGrp="1"/>
          </p:cNvSpPr>
          <p:nvPr>
            <p:ph type="body" idx="2"/>
          </p:nvPr>
        </p:nvSpPr>
        <p:spPr>
          <a:xfrm>
            <a:off x="7190747" y="2126222"/>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7" name="Google Shape;67;p2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1"/>
        <p:cNvGrpSpPr/>
        <p:nvPr/>
      </p:nvGrpSpPr>
      <p:grpSpPr>
        <a:xfrm>
          <a:off x="0" y="0"/>
          <a:ext cx="0" cy="0"/>
          <a:chOff x="0" y="0"/>
          <a:chExt cx="0" cy="0"/>
        </a:xfrm>
      </p:grpSpPr>
      <p:sp>
        <p:nvSpPr>
          <p:cNvPr id="72" name="Google Shape;72;p27"/>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body" idx="1"/>
          </p:nvPr>
        </p:nvSpPr>
        <p:spPr>
          <a:xfrm>
            <a:off x="2939373" y="1972703"/>
            <a:ext cx="3992732"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4" name="Google Shape;74;p27"/>
          <p:cNvSpPr txBox="1">
            <a:spLocks noGrp="1"/>
          </p:cNvSpPr>
          <p:nvPr>
            <p:ph type="body" idx="2"/>
          </p:nvPr>
        </p:nvSpPr>
        <p:spPr>
          <a:xfrm>
            <a:off x="2589212" y="2548966"/>
            <a:ext cx="4342893"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5" name="Google Shape;75;p27"/>
          <p:cNvSpPr txBox="1">
            <a:spLocks noGrp="1"/>
          </p:cNvSpPr>
          <p:nvPr>
            <p:ph type="body" idx="3"/>
          </p:nvPr>
        </p:nvSpPr>
        <p:spPr>
          <a:xfrm>
            <a:off x="7506629" y="1969475"/>
            <a:ext cx="399900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6" name="Google Shape;76;p27"/>
          <p:cNvSpPr txBox="1">
            <a:spLocks noGrp="1"/>
          </p:cNvSpPr>
          <p:nvPr>
            <p:ph type="body" idx="4"/>
          </p:nvPr>
        </p:nvSpPr>
        <p:spPr>
          <a:xfrm>
            <a:off x="7166957" y="2545738"/>
            <a:ext cx="4338674"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7" name="Google Shape;77;p2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28"/>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2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9"/>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9"/>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2"/>
        <p:cNvGrpSpPr/>
        <p:nvPr/>
      </p:nvGrpSpPr>
      <p:grpSpPr>
        <a:xfrm>
          <a:off x="0" y="0"/>
          <a:ext cx="0" cy="0"/>
          <a:chOff x="0" y="0"/>
          <a:chExt cx="0" cy="0"/>
        </a:xfrm>
      </p:grpSpPr>
      <p:sp>
        <p:nvSpPr>
          <p:cNvPr id="93" name="Google Shape;93;p30"/>
          <p:cNvSpPr txBox="1">
            <a:spLocks noGrp="1"/>
          </p:cNvSpPr>
          <p:nvPr>
            <p:ph type="title"/>
          </p:nvPr>
        </p:nvSpPr>
        <p:spPr>
          <a:xfrm>
            <a:off x="2589212" y="446088"/>
            <a:ext cx="3505199" cy="97631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000"/>
              <a:buFont typeface="Century Gothic"/>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0"/>
          <p:cNvSpPr txBox="1">
            <a:spLocks noGrp="1"/>
          </p:cNvSpPr>
          <p:nvPr>
            <p:ph type="body" idx="1"/>
          </p:nvPr>
        </p:nvSpPr>
        <p:spPr>
          <a:xfrm>
            <a:off x="6323012" y="446088"/>
            <a:ext cx="5181600" cy="5414963"/>
          </a:xfrm>
          <a:prstGeom prst="rect">
            <a:avLst/>
          </a:prstGeom>
          <a:noFill/>
          <a:ln>
            <a:noFill/>
          </a:ln>
        </p:spPr>
        <p:txBody>
          <a:bodyPr spcFirstLastPara="1" wrap="square" lIns="91425" tIns="45700" rIns="91425" bIns="45700" anchor="ctr"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95" name="Google Shape;95;p30"/>
          <p:cNvSpPr txBox="1">
            <a:spLocks noGrp="1"/>
          </p:cNvSpPr>
          <p:nvPr>
            <p:ph type="body" idx="2"/>
          </p:nvPr>
        </p:nvSpPr>
        <p:spPr>
          <a:xfrm>
            <a:off x="2589212" y="1598613"/>
            <a:ext cx="3505199" cy="426243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96" name="Google Shape;96;p3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3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30"/>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0"/>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
        <p:cNvGrpSpPr/>
        <p:nvPr/>
      </p:nvGrpSpPr>
      <p:grpSpPr>
        <a:xfrm>
          <a:off x="0" y="0"/>
          <a:ext cx="0" cy="0"/>
          <a:chOff x="0" y="0"/>
          <a:chExt cx="0" cy="0"/>
        </a:xfrm>
      </p:grpSpPr>
      <p:sp>
        <p:nvSpPr>
          <p:cNvPr id="101" name="Google Shape;101;p31"/>
          <p:cNvSpPr txBox="1">
            <a:spLocks noGrp="1"/>
          </p:cNvSpPr>
          <p:nvPr>
            <p:ph type="title"/>
          </p:nvPr>
        </p:nvSpPr>
        <p:spPr>
          <a:xfrm>
            <a:off x="2589213" y="4800600"/>
            <a:ext cx="8915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1"/>
          <p:cNvSpPr>
            <a:spLocks noGrp="1"/>
          </p:cNvSpPr>
          <p:nvPr>
            <p:ph type="pic" idx="2"/>
          </p:nvPr>
        </p:nvSpPr>
        <p:spPr>
          <a:xfrm>
            <a:off x="2589212" y="634965"/>
            <a:ext cx="8915400" cy="3854970"/>
          </a:xfrm>
          <a:prstGeom prst="rect">
            <a:avLst/>
          </a:prstGeom>
          <a:noFill/>
          <a:ln>
            <a:noFill/>
          </a:ln>
        </p:spPr>
      </p:sp>
      <p:sp>
        <p:nvSpPr>
          <p:cNvPr id="103" name="Google Shape;103;p31"/>
          <p:cNvSpPr txBox="1">
            <a:spLocks noGrp="1"/>
          </p:cNvSpPr>
          <p:nvPr>
            <p:ph type="body" idx="1"/>
          </p:nvPr>
        </p:nvSpPr>
        <p:spPr>
          <a:xfrm>
            <a:off x="2589213" y="5367338"/>
            <a:ext cx="8915400"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00"/>
              <a:buNone/>
              <a:defRPr sz="12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104" name="Google Shape;104;p3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3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1"/>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1"/>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8"/>
        <p:cNvGrpSpPr/>
        <p:nvPr/>
      </p:nvGrpSpPr>
      <p:grpSpPr>
        <a:xfrm>
          <a:off x="0" y="0"/>
          <a:ext cx="0" cy="0"/>
          <a:chOff x="0" y="0"/>
          <a:chExt cx="0" cy="0"/>
        </a:xfrm>
      </p:grpSpPr>
      <p:sp>
        <p:nvSpPr>
          <p:cNvPr id="109" name="Google Shape;109;p32"/>
          <p:cNvSpPr txBox="1">
            <a:spLocks noGrp="1"/>
          </p:cNvSpPr>
          <p:nvPr>
            <p:ph type="title"/>
          </p:nvPr>
        </p:nvSpPr>
        <p:spPr>
          <a:xfrm>
            <a:off x="2589212" y="609600"/>
            <a:ext cx="8915399" cy="311704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32"/>
          <p:cNvSpPr txBox="1">
            <a:spLocks noGrp="1"/>
          </p:cNvSpPr>
          <p:nvPr>
            <p:ph type="body" idx="1"/>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11" name="Google Shape;111;p3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2"/>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2"/>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15"/>
        <p:cNvGrpSpPr/>
        <p:nvPr/>
      </p:nvGrpSpPr>
      <p:grpSpPr>
        <a:xfrm>
          <a:off x="0" y="0"/>
          <a:ext cx="0" cy="0"/>
          <a:chOff x="0" y="0"/>
          <a:chExt cx="0" cy="0"/>
        </a:xfrm>
      </p:grpSpPr>
      <p:sp>
        <p:nvSpPr>
          <p:cNvPr id="116" name="Google Shape;116;p33"/>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33"/>
          <p:cNvSpPr txBox="1">
            <a:spLocks noGrp="1"/>
          </p:cNvSpPr>
          <p:nvPr>
            <p:ph type="body" idx="1"/>
          </p:nvPr>
        </p:nvSpPr>
        <p:spPr>
          <a:xfrm>
            <a:off x="3275012" y="3505200"/>
            <a:ext cx="753655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600"/>
              <a:buFont typeface="Century Gothic"/>
              <a:buNone/>
              <a:defRPr sz="1600">
                <a:solidFill>
                  <a:srgbClr val="7F7F7F"/>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18" name="Google Shape;118;p33"/>
          <p:cNvSpPr txBox="1">
            <a:spLocks noGrp="1"/>
          </p:cNvSpPr>
          <p:nvPr>
            <p:ph type="body" idx="2"/>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19" name="Google Shape;119;p3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3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33"/>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3"/>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33"/>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
        <p:nvSpPr>
          <p:cNvPr id="124" name="Google Shape;124;p33"/>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25"/>
        <p:cNvGrpSpPr/>
        <p:nvPr/>
      </p:nvGrpSpPr>
      <p:grpSpPr>
        <a:xfrm>
          <a:off x="0" y="0"/>
          <a:ext cx="0" cy="0"/>
          <a:chOff x="0" y="0"/>
          <a:chExt cx="0" cy="0"/>
        </a:xfrm>
      </p:grpSpPr>
      <p:sp>
        <p:nvSpPr>
          <p:cNvPr id="126" name="Google Shape;126;p34"/>
          <p:cNvSpPr txBox="1">
            <a:spLocks noGrp="1"/>
          </p:cNvSpPr>
          <p:nvPr>
            <p:ph type="title"/>
          </p:nvPr>
        </p:nvSpPr>
        <p:spPr>
          <a:xfrm>
            <a:off x="2589213" y="2438400"/>
            <a:ext cx="8915400" cy="272484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4"/>
          <p:cNvSpPr txBox="1">
            <a:spLocks noGrp="1"/>
          </p:cNvSpPr>
          <p:nvPr>
            <p:ph type="body" idx="1"/>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28" name="Google Shape;128;p3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4"/>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4"/>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32"/>
        <p:cNvGrpSpPr/>
        <p:nvPr/>
      </p:nvGrpSpPr>
      <p:grpSpPr>
        <a:xfrm>
          <a:off x="0" y="0"/>
          <a:ext cx="0" cy="0"/>
          <a:chOff x="0" y="0"/>
          <a:chExt cx="0" cy="0"/>
        </a:xfrm>
      </p:grpSpPr>
      <p:sp>
        <p:nvSpPr>
          <p:cNvPr id="133" name="Google Shape;133;p35"/>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35"/>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5" name="Google Shape;135;p35"/>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6" name="Google Shape;136;p3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5"/>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5"/>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40" name="Google Shape;140;p35"/>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
        <p:nvSpPr>
          <p:cNvPr id="141" name="Google Shape;141;p35"/>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2"/>
        <p:cNvGrpSpPr/>
        <p:nvPr/>
      </p:nvGrpSpPr>
      <p:grpSpPr>
        <a:xfrm>
          <a:off x="0" y="0"/>
          <a:ext cx="0" cy="0"/>
          <a:chOff x="0" y="0"/>
          <a:chExt cx="0" cy="0"/>
        </a:xfrm>
      </p:grpSpPr>
      <p:sp>
        <p:nvSpPr>
          <p:cNvPr id="143" name="Google Shape;143;p36"/>
          <p:cNvSpPr txBox="1">
            <a:spLocks noGrp="1"/>
          </p:cNvSpPr>
          <p:nvPr>
            <p:ph type="title"/>
          </p:nvPr>
        </p:nvSpPr>
        <p:spPr>
          <a:xfrm>
            <a:off x="2589212" y="627407"/>
            <a:ext cx="8915399" cy="28800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6"/>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5" name="Google Shape;145;p36"/>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6" name="Google Shape;146;p3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3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36"/>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6"/>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0"/>
        <p:cNvGrpSpPr/>
        <p:nvPr/>
      </p:nvGrpSpPr>
      <p:grpSpPr>
        <a:xfrm>
          <a:off x="0" y="0"/>
          <a:ext cx="0" cy="0"/>
          <a:chOff x="0" y="0"/>
          <a:chExt cx="0" cy="0"/>
        </a:xfrm>
      </p:grpSpPr>
      <p:sp>
        <p:nvSpPr>
          <p:cNvPr id="151" name="Google Shape;151;p37"/>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7"/>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53" name="Google Shape;153;p3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3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38"/>
          <p:cNvSpPr txBox="1">
            <a:spLocks noGrp="1"/>
          </p:cNvSpPr>
          <p:nvPr>
            <p:ph type="title"/>
          </p:nvPr>
        </p:nvSpPr>
        <p:spPr>
          <a:xfrm rot="5400000">
            <a:off x="7756704" y="2165513"/>
            <a:ext cx="5283817" cy="220760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38"/>
          <p:cNvSpPr txBox="1">
            <a:spLocks noGrp="1"/>
          </p:cNvSpPr>
          <p:nvPr>
            <p:ph type="body" idx="1"/>
          </p:nvPr>
        </p:nvSpPr>
        <p:spPr>
          <a:xfrm rot="5400000">
            <a:off x="3185803" y="30814"/>
            <a:ext cx="5283817" cy="6477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60" name="Google Shape;160;p3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3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DE6C3"/>
            </a:gs>
          </a:gsLst>
          <a:path path="circle">
            <a:fillToRect r="100000" b="100000"/>
          </a:path>
          <a:tileRect l="-100000" t="-100000"/>
        </a:gradFill>
        <a:effectLst/>
      </p:bgPr>
    </p:bg>
    <p:spTree>
      <p:nvGrpSpPr>
        <p:cNvPr id="1" name="Shape 9"/>
        <p:cNvGrpSpPr/>
        <p:nvPr/>
      </p:nvGrpSpPr>
      <p:grpSpPr>
        <a:xfrm>
          <a:off x="0" y="0"/>
          <a:ext cx="0" cy="0"/>
          <a:chOff x="0" y="0"/>
          <a:chExt cx="0" cy="0"/>
        </a:xfrm>
      </p:grpSpPr>
      <p:grpSp>
        <p:nvGrpSpPr>
          <p:cNvPr id="10" name="Google Shape;10;p22"/>
          <p:cNvGrpSpPr/>
          <p:nvPr/>
        </p:nvGrpSpPr>
        <p:grpSpPr>
          <a:xfrm>
            <a:off x="1" y="228600"/>
            <a:ext cx="2851516" cy="6638628"/>
            <a:chOff x="2487613" y="285750"/>
            <a:chExt cx="2428875" cy="5654676"/>
          </a:xfrm>
        </p:grpSpPr>
        <p:sp>
          <p:nvSpPr>
            <p:cNvPr id="11" name="Google Shape;11;p22"/>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2"/>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2"/>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2"/>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2"/>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2"/>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2"/>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2"/>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2"/>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2"/>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2"/>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2"/>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2"/>
          <p:cNvGrpSpPr/>
          <p:nvPr/>
        </p:nvGrpSpPr>
        <p:grpSpPr>
          <a:xfrm>
            <a:off x="27221" y="-786"/>
            <a:ext cx="2356674" cy="6854039"/>
            <a:chOff x="6627813" y="194833"/>
            <a:chExt cx="1952625" cy="5678918"/>
          </a:xfrm>
        </p:grpSpPr>
        <p:sp>
          <p:nvSpPr>
            <p:cNvPr id="24" name="Google Shape;24;p22"/>
            <p:cNvSpPr/>
            <p:nvPr/>
          </p:nvSpPr>
          <p:spPr>
            <a:xfrm>
              <a:off x="6627813" y="194833"/>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2"/>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2"/>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2"/>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2"/>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2"/>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2"/>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2"/>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2"/>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2"/>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2"/>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2"/>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2"/>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2"/>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262626"/>
              </a:buClr>
              <a:buSzPts val="3600"/>
              <a:buFont typeface="Century Gothic"/>
              <a:buNone/>
              <a:defRPr sz="3600" b="0" i="0" u="none" strike="noStrike" cap="none">
                <a:solidFill>
                  <a:srgbClr val="262626"/>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8" name="Google Shape;38;p22"/>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39" name="Google Shape;39;p2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0" name="Google Shape;40;p2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1" name="Google Shape;41;p22"/>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rgbClr val="FEFFFF"/>
                </a:solidFill>
                <a:latin typeface="Century Gothic"/>
                <a:ea typeface="Century Gothic"/>
                <a:cs typeface="Century Gothic"/>
                <a:sym typeface="Century Gothic"/>
              </a:defRPr>
            </a:lvl1pPr>
            <a:lvl2pPr marL="0" marR="0" lvl="1" indent="0" algn="r" rtl="0">
              <a:spcBef>
                <a:spcPts val="0"/>
              </a:spcBef>
              <a:buNone/>
              <a:defRPr sz="2000" b="0" i="0" u="none" strike="noStrike" cap="none">
                <a:solidFill>
                  <a:srgbClr val="FEFFFF"/>
                </a:solidFill>
                <a:latin typeface="Century Gothic"/>
                <a:ea typeface="Century Gothic"/>
                <a:cs typeface="Century Gothic"/>
                <a:sym typeface="Century Gothic"/>
              </a:defRPr>
            </a:lvl2pPr>
            <a:lvl3pPr marL="0" marR="0" lvl="2" indent="0" algn="r" rtl="0">
              <a:spcBef>
                <a:spcPts val="0"/>
              </a:spcBef>
              <a:buNone/>
              <a:defRPr sz="2000" b="0" i="0" u="none" strike="noStrike" cap="none">
                <a:solidFill>
                  <a:srgbClr val="FEFFFF"/>
                </a:solidFill>
                <a:latin typeface="Century Gothic"/>
                <a:ea typeface="Century Gothic"/>
                <a:cs typeface="Century Gothic"/>
                <a:sym typeface="Century Gothic"/>
              </a:defRPr>
            </a:lvl3pPr>
            <a:lvl4pPr marL="0" marR="0" lvl="3" indent="0" algn="r" rtl="0">
              <a:spcBef>
                <a:spcPts val="0"/>
              </a:spcBef>
              <a:buNone/>
              <a:defRPr sz="2000" b="0" i="0" u="none" strike="noStrike" cap="none">
                <a:solidFill>
                  <a:srgbClr val="FEFFFF"/>
                </a:solidFill>
                <a:latin typeface="Century Gothic"/>
                <a:ea typeface="Century Gothic"/>
                <a:cs typeface="Century Gothic"/>
                <a:sym typeface="Century Gothic"/>
              </a:defRPr>
            </a:lvl4pPr>
            <a:lvl5pPr marL="0" marR="0" lvl="4" indent="0" algn="r" rtl="0">
              <a:spcBef>
                <a:spcPts val="0"/>
              </a:spcBef>
              <a:buNone/>
              <a:defRPr sz="2000" b="0" i="0" u="none" strike="noStrike" cap="none">
                <a:solidFill>
                  <a:srgbClr val="FEFFFF"/>
                </a:solidFill>
                <a:latin typeface="Century Gothic"/>
                <a:ea typeface="Century Gothic"/>
                <a:cs typeface="Century Gothic"/>
                <a:sym typeface="Century Gothic"/>
              </a:defRPr>
            </a:lvl5pPr>
            <a:lvl6pPr marL="0" marR="0" lvl="5" indent="0" algn="r" rtl="0">
              <a:spcBef>
                <a:spcPts val="0"/>
              </a:spcBef>
              <a:buNone/>
              <a:defRPr sz="2000" b="0" i="0" u="none" strike="noStrike" cap="none">
                <a:solidFill>
                  <a:srgbClr val="FEFFFF"/>
                </a:solidFill>
                <a:latin typeface="Century Gothic"/>
                <a:ea typeface="Century Gothic"/>
                <a:cs typeface="Century Gothic"/>
                <a:sym typeface="Century Gothic"/>
              </a:defRPr>
            </a:lvl6pPr>
            <a:lvl7pPr marL="0" marR="0" lvl="6" indent="0" algn="r" rtl="0">
              <a:spcBef>
                <a:spcPts val="0"/>
              </a:spcBef>
              <a:buNone/>
              <a:defRPr sz="2000" b="0" i="0" u="none" strike="noStrike" cap="none">
                <a:solidFill>
                  <a:srgbClr val="FEFFFF"/>
                </a:solidFill>
                <a:latin typeface="Century Gothic"/>
                <a:ea typeface="Century Gothic"/>
                <a:cs typeface="Century Gothic"/>
                <a:sym typeface="Century Gothic"/>
              </a:defRPr>
            </a:lvl7pPr>
            <a:lvl8pPr marL="0" marR="0" lvl="7" indent="0" algn="r" rtl="0">
              <a:spcBef>
                <a:spcPts val="0"/>
              </a:spcBef>
              <a:buNone/>
              <a:defRPr sz="2000" b="0" i="0" u="none" strike="noStrike" cap="none">
                <a:solidFill>
                  <a:srgbClr val="FEFFFF"/>
                </a:solidFill>
                <a:latin typeface="Century Gothic"/>
                <a:ea typeface="Century Gothic"/>
                <a:cs typeface="Century Gothic"/>
                <a:sym typeface="Century Gothic"/>
              </a:defRPr>
            </a:lvl8pPr>
            <a:lvl9pPr marL="0" marR="0" lvl="8" indent="0" algn="r" rtl="0">
              <a:spcBef>
                <a:spcPts val="0"/>
              </a:spcBef>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atasetsearch.research.google.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p>
            <a:pPr lvl="0">
              <a:buSzPts val="4800"/>
            </a:pPr>
            <a:r>
              <a:rPr lang="en-US" sz="4800" dirty="0"/>
              <a:t>MITM 431: Big Data Analytics</a:t>
            </a:r>
            <a:br>
              <a:rPr lang="en-US" sz="4800" dirty="0"/>
            </a:br>
            <a:r>
              <a:rPr lang="en-US" sz="3200" b="1" dirty="0">
                <a:solidFill>
                  <a:srgbClr val="C00000"/>
                </a:solidFill>
              </a:rPr>
              <a:t>More Info. on Project</a:t>
            </a:r>
            <a:endParaRPr sz="3200" b="1" dirty="0">
              <a:solidFill>
                <a:srgbClr val="C00000"/>
              </a:solidFill>
            </a:endParaRPr>
          </a:p>
        </p:txBody>
      </p:sp>
      <p:sp>
        <p:nvSpPr>
          <p:cNvPr id="169" name="Google Shape;169;p1"/>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a:t>Shah Mostafa Khaled, Ph. 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3"/>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Steps</a:t>
            </a:r>
          </a:p>
          <a:p>
            <a:pPr marL="114300" indent="0">
              <a:buNone/>
            </a:pPr>
            <a:endParaRPr lang="en-US" dirty="0"/>
          </a:p>
          <a:p>
            <a:pPr>
              <a:buFont typeface="Wingdings" panose="05000000000000000000" pitchFamily="2" charset="2"/>
              <a:buChar char="§"/>
            </a:pPr>
            <a:r>
              <a:rPr lang="en-US" dirty="0"/>
              <a:t>Formulate a problem that can be solved by analyzing data</a:t>
            </a:r>
          </a:p>
          <a:p>
            <a:pPr>
              <a:buFont typeface="Wingdings" panose="05000000000000000000" pitchFamily="2" charset="2"/>
              <a:buChar char="§"/>
            </a:pPr>
            <a:r>
              <a:rPr lang="en-US" dirty="0"/>
              <a:t>Find a dataset</a:t>
            </a:r>
          </a:p>
          <a:p>
            <a:pPr>
              <a:buFont typeface="Wingdings" panose="05000000000000000000" pitchFamily="2" charset="2"/>
              <a:buChar char="§"/>
            </a:pPr>
            <a:r>
              <a:rPr lang="en-US" dirty="0"/>
              <a:t>Review the related work</a:t>
            </a:r>
          </a:p>
          <a:p>
            <a:pPr>
              <a:buFont typeface="Wingdings" panose="05000000000000000000" pitchFamily="2" charset="2"/>
              <a:buChar char="§"/>
            </a:pPr>
            <a:r>
              <a:rPr lang="en-US" dirty="0"/>
              <a:t>Implement a solution in Python</a:t>
            </a:r>
          </a:p>
          <a:p>
            <a:pPr lvl="1">
              <a:buFont typeface="Wingdings" panose="05000000000000000000" pitchFamily="2" charset="2"/>
              <a:buChar char="§"/>
            </a:pPr>
            <a:r>
              <a:rPr lang="en-US" dirty="0"/>
              <a:t>Apply supervised learning</a:t>
            </a:r>
          </a:p>
          <a:p>
            <a:pPr lvl="1">
              <a:buFont typeface="Wingdings" panose="05000000000000000000" pitchFamily="2" charset="2"/>
              <a:buChar char="§"/>
            </a:pPr>
            <a:r>
              <a:rPr lang="en-US" dirty="0"/>
              <a:t>Apply unsupervised learning </a:t>
            </a:r>
            <a:br>
              <a:rPr lang="en-US"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F2F38866-4666-92A0-8D61-FAB1D49BFA8E}"/>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390B5786-11A9-2ABC-131F-A2386EA22F4A}"/>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B5F66197-0215-0C62-4DB6-EA53E602FC03}"/>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Problem Formulation</a:t>
            </a:r>
          </a:p>
          <a:p>
            <a:pPr marL="114300" indent="0">
              <a:buNone/>
            </a:pPr>
            <a:endParaRPr lang="en-US" dirty="0"/>
          </a:p>
          <a:p>
            <a:pPr>
              <a:buFont typeface="Wingdings" panose="05000000000000000000" pitchFamily="2" charset="2"/>
              <a:buChar char="§"/>
            </a:pPr>
            <a:r>
              <a:rPr lang="en-US" dirty="0"/>
              <a:t>Not every problem requires machine learning</a:t>
            </a:r>
          </a:p>
          <a:p>
            <a:pPr lvl="1">
              <a:buFont typeface="Wingdings" panose="05000000000000000000" pitchFamily="2" charset="2"/>
              <a:buChar char="§"/>
            </a:pPr>
            <a:r>
              <a:rPr lang="en-US" dirty="0"/>
              <a:t>Some problems may be solved by retrieving data from a database using SQL queries</a:t>
            </a:r>
          </a:p>
          <a:p>
            <a:pPr lvl="1">
              <a:buFont typeface="Wingdings" panose="05000000000000000000" pitchFamily="2" charset="2"/>
              <a:buChar char="§"/>
            </a:pPr>
            <a:r>
              <a:rPr lang="en-US" dirty="0"/>
              <a:t>E.g., choose a phone or a laptop given a price range and a set of desired features --&gt; just return all the products within the given price range that have the desired features</a:t>
            </a:r>
          </a:p>
          <a:p>
            <a:pPr lvl="1">
              <a:buFont typeface="Wingdings" panose="05000000000000000000" pitchFamily="2" charset="2"/>
              <a:buChar char="§"/>
            </a:pPr>
            <a:r>
              <a:rPr lang="en-US" dirty="0"/>
              <a:t>Some problems may be solved using physical models</a:t>
            </a:r>
          </a:p>
          <a:p>
            <a:pPr lvl="1">
              <a:buFont typeface="Wingdings" panose="05000000000000000000" pitchFamily="2" charset="2"/>
              <a:buChar char="§"/>
            </a:pPr>
            <a:r>
              <a:rPr lang="en-US" dirty="0"/>
              <a:t>E.g., in electric circuits, Ohm’s law states that Voltage = Current x Resistance. If we know the current and the resistance, we don’t need to predict the voltage. We can just calculate it using Ohm’s law</a:t>
            </a:r>
            <a:br>
              <a:rPr lang="en-US" dirty="0"/>
            </a:br>
            <a:endParaRPr dirty="0"/>
          </a:p>
        </p:txBody>
      </p:sp>
    </p:spTree>
    <p:extLst>
      <p:ext uri="{BB962C8B-B14F-4D97-AF65-F5344CB8AC3E}">
        <p14:creationId xmlns:p14="http://schemas.microsoft.com/office/powerpoint/2010/main" val="803214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A351D272-155C-607D-9008-4BD71972DCC4}"/>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448A7B4C-EF9F-660C-A645-0BDE937ADAEB}"/>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02E6E129-FE97-957E-2CE8-0A5C63B7136E}"/>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Problem Formulation (</a:t>
            </a:r>
            <a:r>
              <a:rPr lang="en-US" b="1" dirty="0" err="1">
                <a:solidFill>
                  <a:srgbClr val="C00000"/>
                </a:solidFill>
              </a:rPr>
              <a:t>contd</a:t>
            </a:r>
            <a:r>
              <a:rPr lang="en-US" b="1" dirty="0">
                <a:solidFill>
                  <a:srgbClr val="C00000"/>
                </a:solidFill>
              </a:rPr>
              <a:t>…)</a:t>
            </a:r>
          </a:p>
          <a:p>
            <a:pPr marL="114300" indent="0">
              <a:buNone/>
            </a:pPr>
            <a:endParaRPr lang="en-US" dirty="0"/>
          </a:p>
          <a:p>
            <a:pPr>
              <a:buFont typeface="Wingdings" panose="05000000000000000000" pitchFamily="2" charset="2"/>
              <a:buChar char="§"/>
            </a:pPr>
            <a:r>
              <a:rPr lang="en-US" dirty="0"/>
              <a:t>Find a problem in which there is a variable whose value is not easy to guess</a:t>
            </a:r>
          </a:p>
          <a:p>
            <a:pPr lvl="1">
              <a:buFont typeface="Wingdings" panose="05000000000000000000" pitchFamily="2" charset="2"/>
              <a:buChar char="§"/>
            </a:pPr>
            <a:r>
              <a:rPr lang="en-US" dirty="0"/>
              <a:t>Lecture 1: which engineering program is right for you?</a:t>
            </a:r>
          </a:p>
          <a:p>
            <a:pPr lvl="1">
              <a:buFont typeface="Wingdings" panose="05000000000000000000" pitchFamily="2" charset="2"/>
              <a:buChar char="§"/>
            </a:pPr>
            <a:r>
              <a:rPr lang="en-US" dirty="0"/>
              <a:t>Lecture 1: predict movie revenue</a:t>
            </a:r>
          </a:p>
          <a:p>
            <a:pPr lvl="1">
              <a:buFont typeface="Wingdings" panose="05000000000000000000" pitchFamily="2" charset="2"/>
              <a:buChar char="§"/>
            </a:pPr>
            <a:r>
              <a:rPr lang="en-US" dirty="0"/>
              <a:t>Lecture 2: predict song genre from lyrics</a:t>
            </a:r>
          </a:p>
          <a:p>
            <a:pPr>
              <a:buFont typeface="Wingdings" panose="05000000000000000000" pitchFamily="2" charset="2"/>
              <a:buChar char="§"/>
            </a:pPr>
            <a:r>
              <a:rPr lang="en-US" dirty="0"/>
              <a:t>Finding an interesting problem may take time </a:t>
            </a:r>
            <a:br>
              <a:rPr lang="en-US" dirty="0"/>
            </a:br>
            <a:br>
              <a:rPr lang="en-US" dirty="0"/>
            </a:br>
            <a:endParaRPr dirty="0"/>
          </a:p>
        </p:txBody>
      </p:sp>
    </p:spTree>
    <p:extLst>
      <p:ext uri="{BB962C8B-B14F-4D97-AF65-F5344CB8AC3E}">
        <p14:creationId xmlns:p14="http://schemas.microsoft.com/office/powerpoint/2010/main" val="1995460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9A6A430E-8EBF-E001-3AFD-37BEEA7A81DB}"/>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302D5D37-32BF-FB3D-B637-B0E47D6C4E5E}"/>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D3A700B4-D90A-6C9A-607D-24E552A5E772}"/>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Dataset Search</a:t>
            </a:r>
          </a:p>
          <a:p>
            <a:pPr marL="114300" indent="0">
              <a:buNone/>
            </a:pPr>
            <a:endParaRPr lang="en-US" dirty="0"/>
          </a:p>
          <a:p>
            <a:pPr>
              <a:buFont typeface="Wingdings" panose="05000000000000000000" pitchFamily="2" charset="2"/>
              <a:buChar char="§"/>
            </a:pPr>
            <a:r>
              <a:rPr lang="en-US" dirty="0"/>
              <a:t>Collect new data through surveys</a:t>
            </a:r>
          </a:p>
          <a:p>
            <a:pPr lvl="1">
              <a:buFont typeface="Wingdings" panose="05000000000000000000" pitchFamily="2" charset="2"/>
              <a:buChar char="§"/>
            </a:pPr>
            <a:r>
              <a:rPr lang="en-US" dirty="0"/>
              <a:t>If so, make sure you clearly state in your survey that you are collecting data for a course project, and that you will delete the data at the end of the term</a:t>
            </a:r>
          </a:p>
          <a:p>
            <a:pPr>
              <a:buFont typeface="Wingdings" panose="05000000000000000000" pitchFamily="2" charset="2"/>
              <a:buChar char="§"/>
            </a:pPr>
            <a:r>
              <a:rPr lang="en-US" dirty="0"/>
              <a:t>Collect data available online</a:t>
            </a:r>
          </a:p>
          <a:p>
            <a:pPr lvl="1">
              <a:buFont typeface="Wingdings" panose="05000000000000000000" pitchFamily="2" charset="2"/>
              <a:buChar char="§"/>
            </a:pPr>
            <a:r>
              <a:rPr lang="en-US" dirty="0"/>
              <a:t>Open government datasets</a:t>
            </a:r>
          </a:p>
          <a:p>
            <a:pPr lvl="1">
              <a:buFont typeface="Wingdings" panose="05000000000000000000" pitchFamily="2" charset="2"/>
              <a:buChar char="§"/>
            </a:pPr>
            <a:r>
              <a:rPr lang="en-US" dirty="0"/>
              <a:t>Google Research dataset search: </a:t>
            </a:r>
            <a:r>
              <a:rPr lang="en-US" dirty="0">
                <a:hlinkClick r:id="rId3"/>
              </a:rPr>
              <a:t>https://datasetsearch.research.google.com/</a:t>
            </a:r>
            <a:r>
              <a:rPr lang="en-US" dirty="0"/>
              <a:t> </a:t>
            </a:r>
            <a:endParaRPr dirty="0"/>
          </a:p>
        </p:txBody>
      </p:sp>
    </p:spTree>
    <p:extLst>
      <p:ext uri="{BB962C8B-B14F-4D97-AF65-F5344CB8AC3E}">
        <p14:creationId xmlns:p14="http://schemas.microsoft.com/office/powerpoint/2010/main" val="186790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AF6AA26B-CCE9-272F-8507-514E158ADE96}"/>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BC508075-E3BE-23B1-F949-20467024706E}"/>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31AF7A4C-7F38-B8C3-A10C-9B7CCA1CB8E1}"/>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Related Work</a:t>
            </a:r>
          </a:p>
          <a:p>
            <a:pPr marL="114300" indent="0">
              <a:buNone/>
            </a:pPr>
            <a:endParaRPr lang="en-US" dirty="0"/>
          </a:p>
          <a:p>
            <a:pPr>
              <a:buFont typeface="Wingdings" panose="05000000000000000000" pitchFamily="2" charset="2"/>
              <a:buChar char="§"/>
            </a:pPr>
            <a:r>
              <a:rPr lang="en-US" dirty="0"/>
              <a:t>Has your problem been studied before?</a:t>
            </a:r>
          </a:p>
          <a:p>
            <a:pPr lvl="1">
              <a:buFont typeface="Wingdings" panose="05000000000000000000" pitchFamily="2" charset="2"/>
              <a:buChar char="§"/>
            </a:pPr>
            <a:r>
              <a:rPr lang="en-US" dirty="0"/>
              <a:t>Most likely “yes”</a:t>
            </a:r>
          </a:p>
          <a:p>
            <a:pPr>
              <a:buFont typeface="Wingdings" panose="05000000000000000000" pitchFamily="2" charset="2"/>
              <a:buChar char="§"/>
            </a:pPr>
            <a:r>
              <a:rPr lang="en-US" dirty="0"/>
              <a:t>How is your project different? (Novelty / Originality)</a:t>
            </a:r>
          </a:p>
          <a:p>
            <a:pPr lvl="1">
              <a:buFont typeface="Wingdings" panose="05000000000000000000" pitchFamily="2" charset="2"/>
              <a:buChar char="§"/>
            </a:pPr>
            <a:r>
              <a:rPr lang="en-US" dirty="0"/>
              <a:t>Make direct comparisons to previous work</a:t>
            </a:r>
          </a:p>
          <a:p>
            <a:pPr lvl="1">
              <a:buFont typeface="Wingdings" panose="05000000000000000000" pitchFamily="2" charset="2"/>
              <a:buChar char="§"/>
            </a:pPr>
            <a:r>
              <a:rPr lang="en-US" dirty="0"/>
              <a:t>E.g., maybe you used a different dataset (with additional features, with more data, with data from a different city or country)</a:t>
            </a:r>
          </a:p>
          <a:p>
            <a:pPr lvl="1">
              <a:buFont typeface="Wingdings" panose="05000000000000000000" pitchFamily="2" charset="2"/>
              <a:buChar char="§"/>
            </a:pPr>
            <a:r>
              <a:rPr lang="en-US" dirty="0"/>
              <a:t>Or a different algorithm</a:t>
            </a:r>
          </a:p>
          <a:p>
            <a:pPr lvl="1">
              <a:buFont typeface="Wingdings" panose="05000000000000000000" pitchFamily="2" charset="2"/>
              <a:buChar char="§"/>
            </a:pPr>
            <a:r>
              <a:rPr lang="en-US" dirty="0"/>
              <a:t>Compare your findings to previous work. Did you learn something different?</a:t>
            </a:r>
          </a:p>
          <a:p>
            <a:pPr lvl="1">
              <a:buFont typeface="Wingdings" panose="05000000000000000000" pitchFamily="2" charset="2"/>
              <a:buChar char="§"/>
            </a:pPr>
            <a:r>
              <a:rPr lang="en-US" dirty="0"/>
              <a:t>Did you improve prediction accuracy?</a:t>
            </a:r>
            <a:endParaRPr dirty="0"/>
          </a:p>
        </p:txBody>
      </p:sp>
    </p:spTree>
    <p:extLst>
      <p:ext uri="{BB962C8B-B14F-4D97-AF65-F5344CB8AC3E}">
        <p14:creationId xmlns:p14="http://schemas.microsoft.com/office/powerpoint/2010/main" val="1383810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8B9E9238-7F1F-EC02-3B00-E54BECC7ACD1}"/>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101FCA97-1C1C-2BCA-4642-3EFAC0622B06}"/>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94DBB5A5-341C-0867-70C3-0146288A5A0D}"/>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Supervised Learning</a:t>
            </a:r>
          </a:p>
          <a:p>
            <a:pPr marL="114300" indent="0">
              <a:buNone/>
            </a:pPr>
            <a:endParaRPr lang="en-US" dirty="0"/>
          </a:p>
          <a:p>
            <a:pPr>
              <a:buFont typeface="Wingdings" panose="05000000000000000000" pitchFamily="2" charset="2"/>
              <a:buChar char="§"/>
            </a:pPr>
            <a:r>
              <a:rPr lang="en-US" dirty="0"/>
              <a:t>To predict a numeric variable</a:t>
            </a:r>
          </a:p>
          <a:p>
            <a:pPr lvl="1">
              <a:buFont typeface="Wingdings" panose="05000000000000000000" pitchFamily="2" charset="2"/>
              <a:buChar char="§"/>
            </a:pPr>
            <a:r>
              <a:rPr lang="en-US" dirty="0"/>
              <a:t>OK to use just linear regression, but consider trying different subsets of features</a:t>
            </a:r>
          </a:p>
          <a:p>
            <a:pPr lvl="1">
              <a:buFont typeface="Wingdings" panose="05000000000000000000" pitchFamily="2" charset="2"/>
              <a:buChar char="§"/>
            </a:pPr>
            <a:r>
              <a:rPr lang="en-US" dirty="0"/>
              <a:t>E.g., maybe a model with 5 best features is nearly as good as a model with all 20 features</a:t>
            </a:r>
          </a:p>
          <a:p>
            <a:pPr>
              <a:buFont typeface="Wingdings" panose="05000000000000000000" pitchFamily="2" charset="2"/>
              <a:buChar char="§"/>
            </a:pPr>
            <a:r>
              <a:rPr lang="en-US" dirty="0"/>
              <a:t>To predict a discrete variable</a:t>
            </a:r>
          </a:p>
          <a:p>
            <a:pPr lvl="1">
              <a:buFont typeface="Wingdings" panose="05000000000000000000" pitchFamily="2" charset="2"/>
              <a:buChar char="§"/>
            </a:pPr>
            <a:r>
              <a:rPr lang="en-US" dirty="0"/>
              <a:t>Try different classifiers, try different subsets of variables</a:t>
            </a:r>
          </a:p>
          <a:p>
            <a:pPr lvl="1">
              <a:buFont typeface="Wingdings" panose="05000000000000000000" pitchFamily="2" charset="2"/>
              <a:buChar char="§"/>
            </a:pPr>
            <a:r>
              <a:rPr lang="en-US" dirty="0"/>
              <a:t>In either case, clearly explain the variables and any data pre-processing, feature engineering or transformations you’ve done</a:t>
            </a:r>
            <a:endParaRPr dirty="0"/>
          </a:p>
        </p:txBody>
      </p:sp>
    </p:spTree>
    <p:extLst>
      <p:ext uri="{BB962C8B-B14F-4D97-AF65-F5344CB8AC3E}">
        <p14:creationId xmlns:p14="http://schemas.microsoft.com/office/powerpoint/2010/main" val="1977550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25127614-9432-0776-33FE-D0F3EC2DA8DC}"/>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85550E91-109D-798B-CAF7-DE7E076FDFE5}"/>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A9CA9D31-4DE1-04BD-595F-74276F99FA3E}"/>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Data Pre-Processing</a:t>
            </a:r>
          </a:p>
          <a:p>
            <a:pPr marL="114300" indent="0">
              <a:buNone/>
            </a:pPr>
            <a:endParaRPr lang="en-US" dirty="0"/>
          </a:p>
          <a:p>
            <a:pPr>
              <a:buFont typeface="Wingdings" panose="05000000000000000000" pitchFamily="2" charset="2"/>
              <a:buChar char="§"/>
            </a:pPr>
            <a:r>
              <a:rPr lang="en-US" dirty="0"/>
              <a:t>Missing data:</a:t>
            </a:r>
          </a:p>
          <a:p>
            <a:pPr lvl="1">
              <a:buFont typeface="Wingdings" panose="05000000000000000000" pitchFamily="2" charset="2"/>
              <a:buChar char="§"/>
            </a:pPr>
            <a:r>
              <a:rPr lang="en-US" dirty="0"/>
              <a:t>If one of your columns has many missing values, remove it</a:t>
            </a:r>
          </a:p>
          <a:p>
            <a:pPr lvl="1">
              <a:buFont typeface="Wingdings" panose="05000000000000000000" pitchFamily="2" charset="2"/>
              <a:buChar char="§"/>
            </a:pPr>
            <a:r>
              <a:rPr lang="en-US" dirty="0"/>
              <a:t>(another option is to interpolate missing values, but I don’t recommend it for your course projects)</a:t>
            </a:r>
          </a:p>
          <a:p>
            <a:pPr lvl="1">
              <a:buFont typeface="Wingdings" panose="05000000000000000000" pitchFamily="2" charset="2"/>
              <a:buChar char="§"/>
            </a:pPr>
            <a:r>
              <a:rPr lang="en-US" dirty="0"/>
              <a:t>If only a few rows have many missing values, and other rows are complete, remove the incomplete rows (e.g., people who only answer a few questions on a long survey) </a:t>
            </a:r>
            <a:endParaRPr dirty="0"/>
          </a:p>
        </p:txBody>
      </p:sp>
    </p:spTree>
    <p:extLst>
      <p:ext uri="{BB962C8B-B14F-4D97-AF65-F5344CB8AC3E}">
        <p14:creationId xmlns:p14="http://schemas.microsoft.com/office/powerpoint/2010/main" val="2830208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5FE49055-7578-E49F-5D7F-E3E6859FCB32}"/>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8F65D2A3-54BC-8A2E-C9FF-22A22B0FE0FE}"/>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48C0354C-81C5-B1A1-94CA-EED09C2A0B79}"/>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Feature Selection</a:t>
            </a:r>
          </a:p>
          <a:p>
            <a:pPr marL="114300" indent="0">
              <a:buNone/>
            </a:pPr>
            <a:endParaRPr lang="en-US" dirty="0"/>
          </a:p>
          <a:p>
            <a:pPr>
              <a:buFont typeface="Wingdings" panose="05000000000000000000" pitchFamily="2" charset="2"/>
              <a:buChar char="§"/>
            </a:pPr>
            <a:r>
              <a:rPr lang="en-US" dirty="0"/>
              <a:t>Good features (explanatory variables) are independent of each other but correlated to the variable you want to predict</a:t>
            </a:r>
          </a:p>
          <a:p>
            <a:pPr>
              <a:buFont typeface="Wingdings" panose="05000000000000000000" pitchFamily="2" charset="2"/>
              <a:buChar char="§"/>
            </a:pPr>
            <a:r>
              <a:rPr lang="en-US" dirty="0"/>
              <a:t>Feature search</a:t>
            </a:r>
          </a:p>
          <a:p>
            <a:pPr lvl="1">
              <a:buFont typeface="Wingdings" panose="05000000000000000000" pitchFamily="2" charset="2"/>
              <a:buChar char="§"/>
            </a:pPr>
            <a:r>
              <a:rPr lang="en-US" dirty="0"/>
              <a:t>Start with a few strong features. Brute force </a:t>
            </a:r>
            <a:r>
              <a:rPr lang="en-US"/>
              <a:t>method → </a:t>
            </a:r>
            <a:r>
              <a:rPr lang="en-US" dirty="0"/>
              <a:t>try all subsets of 2, 3, 4, 5 features</a:t>
            </a:r>
          </a:p>
          <a:p>
            <a:pPr lvl="1">
              <a:buFont typeface="Wingdings" panose="05000000000000000000" pitchFamily="2" charset="2"/>
              <a:buChar char="§"/>
            </a:pPr>
            <a:r>
              <a:rPr lang="en-US" dirty="0"/>
              <a:t>When considering a new feature, measure the improvement in model accuracy. If the improvement is small, don’t add the new feature</a:t>
            </a:r>
            <a:endParaRPr dirty="0"/>
          </a:p>
        </p:txBody>
      </p:sp>
    </p:spTree>
    <p:extLst>
      <p:ext uri="{BB962C8B-B14F-4D97-AF65-F5344CB8AC3E}">
        <p14:creationId xmlns:p14="http://schemas.microsoft.com/office/powerpoint/2010/main" val="1913117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953AEF17-9B1C-72AA-1F6B-F9D4994C879C}"/>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6F4593D2-743C-4C55-5C5C-348D809A83AC}"/>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C8B87741-236E-48C1-3478-44099238451A}"/>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Model Interpretation</a:t>
            </a:r>
          </a:p>
          <a:p>
            <a:pPr marL="114300" indent="0">
              <a:buNone/>
            </a:pPr>
            <a:endParaRPr lang="en-US" dirty="0"/>
          </a:p>
          <a:p>
            <a:pPr>
              <a:buFont typeface="Wingdings" panose="05000000000000000000" pitchFamily="2" charset="2"/>
              <a:buChar char="§"/>
            </a:pPr>
            <a:r>
              <a:rPr lang="en-US" dirty="0"/>
              <a:t>What did you learn about your prediction problem?</a:t>
            </a:r>
          </a:p>
          <a:p>
            <a:pPr>
              <a:buFont typeface="Wingdings" panose="05000000000000000000" pitchFamily="2" charset="2"/>
              <a:buChar char="§"/>
            </a:pPr>
            <a:r>
              <a:rPr lang="en-US" dirty="0"/>
              <a:t>Which features were useful? Not useful?</a:t>
            </a:r>
          </a:p>
          <a:p>
            <a:pPr>
              <a:buFont typeface="Wingdings" panose="05000000000000000000" pitchFamily="2" charset="2"/>
              <a:buChar char="§"/>
            </a:pPr>
            <a:r>
              <a:rPr lang="en-US" dirty="0"/>
              <a:t>Regression models: which features had the highest coefficients?</a:t>
            </a:r>
          </a:p>
          <a:p>
            <a:pPr lvl="1">
              <a:buFont typeface="Wingdings" panose="05000000000000000000" pitchFamily="2" charset="2"/>
              <a:buChar char="§"/>
            </a:pPr>
            <a:r>
              <a:rPr lang="en-US" dirty="0"/>
              <a:t>But be careful when interpreting coefficients when variables have different ranges (i.e., when the variables are not normalized). E.g., if X1 ranges from 0 to 100 and X2 ranges from 0 to 1, then X1 may contribute to the prediction 100 times more, even if both X1 and X2 have the same coefficients</a:t>
            </a:r>
          </a:p>
          <a:p>
            <a:pPr>
              <a:buFont typeface="Wingdings" panose="05000000000000000000" pitchFamily="2" charset="2"/>
              <a:buChar char="§"/>
            </a:pPr>
            <a:r>
              <a:rPr lang="en-US" dirty="0"/>
              <a:t>Tree models: which features were used in the tree?</a:t>
            </a:r>
          </a:p>
          <a:p>
            <a:pPr>
              <a:buFont typeface="Wingdings" panose="05000000000000000000" pitchFamily="2" charset="2"/>
              <a:buChar char="§"/>
            </a:pPr>
            <a:r>
              <a:rPr lang="en-US" dirty="0"/>
              <a:t>Rule models which features were used in the rules?</a:t>
            </a:r>
            <a:endParaRPr dirty="0"/>
          </a:p>
        </p:txBody>
      </p:sp>
    </p:spTree>
    <p:extLst>
      <p:ext uri="{BB962C8B-B14F-4D97-AF65-F5344CB8AC3E}">
        <p14:creationId xmlns:p14="http://schemas.microsoft.com/office/powerpoint/2010/main" val="19962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A742AE56-1D94-65D3-6BF5-B2BE272BF73B}"/>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D93D35A6-0B3A-3305-1CEF-B9A91E74648E}"/>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DF4E899D-8BAE-3D46-87CA-A6978C4FA88A}"/>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Unsupervised Learning</a:t>
            </a:r>
          </a:p>
          <a:p>
            <a:pPr marL="114300" indent="0">
              <a:buNone/>
            </a:pPr>
            <a:endParaRPr lang="en-US" dirty="0"/>
          </a:p>
          <a:p>
            <a:pPr>
              <a:buFont typeface="Wingdings" panose="05000000000000000000" pitchFamily="2" charset="2"/>
              <a:buChar char="§"/>
            </a:pPr>
            <a:r>
              <a:rPr lang="en-US" dirty="0"/>
              <a:t>You may do association, clustering or both</a:t>
            </a:r>
          </a:p>
          <a:p>
            <a:pPr lvl="1">
              <a:buFont typeface="Wingdings" panose="05000000000000000000" pitchFamily="2" charset="2"/>
              <a:buChar char="§"/>
            </a:pPr>
            <a:r>
              <a:rPr lang="en-US" dirty="0"/>
              <a:t>Clearly explain your choice and which variables you used</a:t>
            </a:r>
          </a:p>
          <a:p>
            <a:pPr>
              <a:buFont typeface="Wingdings" panose="05000000000000000000" pitchFamily="2" charset="2"/>
              <a:buChar char="§"/>
            </a:pPr>
            <a:r>
              <a:rPr lang="en-US" dirty="0"/>
              <a:t>Formulate a different business problem than for supervised learning</a:t>
            </a:r>
          </a:p>
          <a:p>
            <a:pPr lvl="1">
              <a:buFont typeface="Wingdings" panose="05000000000000000000" pitchFamily="2" charset="2"/>
              <a:buChar char="§"/>
            </a:pPr>
            <a:r>
              <a:rPr lang="en-US" dirty="0"/>
              <a:t>Clustering: segmenting a dataset to find groups of items/customers, etc.</a:t>
            </a:r>
          </a:p>
          <a:p>
            <a:pPr lvl="1">
              <a:buFont typeface="Wingdings" panose="05000000000000000000" pitchFamily="2" charset="2"/>
              <a:buChar char="§"/>
            </a:pPr>
            <a:r>
              <a:rPr lang="en-US" dirty="0"/>
              <a:t>Association: correlations among features</a:t>
            </a:r>
          </a:p>
          <a:p>
            <a:pPr>
              <a:buFont typeface="Wingdings" panose="05000000000000000000" pitchFamily="2" charset="2"/>
              <a:buChar char="§"/>
            </a:pPr>
            <a:r>
              <a:rPr lang="en-US" dirty="0"/>
              <a:t>Rule of thumb:</a:t>
            </a:r>
          </a:p>
          <a:p>
            <a:pPr lvl="1">
              <a:buFont typeface="Wingdings" panose="05000000000000000000" pitchFamily="2" charset="2"/>
              <a:buChar char="§"/>
            </a:pPr>
            <a:r>
              <a:rPr lang="en-US" dirty="0"/>
              <a:t>If most of your variables are numeric, do clustering</a:t>
            </a:r>
          </a:p>
          <a:p>
            <a:pPr lvl="1">
              <a:buFont typeface="Wingdings" panose="05000000000000000000" pitchFamily="2" charset="2"/>
              <a:buChar char="§"/>
            </a:pPr>
            <a:r>
              <a:rPr lang="en-US" dirty="0"/>
              <a:t>Otherwise, do association</a:t>
            </a:r>
            <a:endParaRPr dirty="0"/>
          </a:p>
        </p:txBody>
      </p:sp>
    </p:spTree>
    <p:extLst>
      <p:ext uri="{BB962C8B-B14F-4D97-AF65-F5344CB8AC3E}">
        <p14:creationId xmlns:p14="http://schemas.microsoft.com/office/powerpoint/2010/main" val="3362901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201FB399-6F35-54B6-3D06-A26D4E069AB3}"/>
            </a:ext>
          </a:extLst>
        </p:cNvPr>
        <p:cNvGrpSpPr/>
        <p:nvPr/>
      </p:nvGrpSpPr>
      <p:grpSpPr>
        <a:xfrm>
          <a:off x="0" y="0"/>
          <a:ext cx="0" cy="0"/>
          <a:chOff x="0" y="0"/>
          <a:chExt cx="0" cy="0"/>
        </a:xfrm>
      </p:grpSpPr>
      <p:sp>
        <p:nvSpPr>
          <p:cNvPr id="243" name="Google Shape;243;p13">
            <a:extLst>
              <a:ext uri="{FF2B5EF4-FFF2-40B4-BE49-F238E27FC236}">
                <a16:creationId xmlns:a16="http://schemas.microsoft.com/office/drawing/2014/main" id="{33A24599-B548-ABE1-6A0C-31AABB1FF820}"/>
              </a:ext>
            </a:extLst>
          </p:cNvPr>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a:buNone/>
            </a:pPr>
            <a:r>
              <a:rPr lang="en-US" dirty="0"/>
              <a:t>MITM 431: Big Data Analytics</a:t>
            </a:r>
            <a:endParaRPr dirty="0">
              <a:solidFill>
                <a:srgbClr val="00B050"/>
              </a:solidFill>
            </a:endParaRPr>
          </a:p>
        </p:txBody>
      </p:sp>
      <p:sp>
        <p:nvSpPr>
          <p:cNvPr id="244" name="Google Shape;244;p13">
            <a:extLst>
              <a:ext uri="{FF2B5EF4-FFF2-40B4-BE49-F238E27FC236}">
                <a16:creationId xmlns:a16="http://schemas.microsoft.com/office/drawing/2014/main" id="{017B7C59-01C2-D2F2-1CBE-3C71BC4D6A42}"/>
              </a:ext>
            </a:extLst>
          </p:cNvPr>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114300" indent="0">
              <a:buNone/>
            </a:pPr>
            <a:r>
              <a:rPr lang="en-US" b="1" dirty="0">
                <a:solidFill>
                  <a:srgbClr val="C00000"/>
                </a:solidFill>
              </a:rPr>
              <a:t>Marking Scheme</a:t>
            </a:r>
            <a:endParaRPr lang="en-US" dirty="0"/>
          </a:p>
          <a:p>
            <a:pPr>
              <a:buFont typeface="Wingdings" panose="05000000000000000000" pitchFamily="2" charset="2"/>
              <a:buChar char="§"/>
            </a:pPr>
            <a:r>
              <a:rPr lang="en-US" dirty="0"/>
              <a:t>15 points for technical correctness, originality, and creativity</a:t>
            </a:r>
          </a:p>
          <a:p>
            <a:pPr lvl="1">
              <a:buFont typeface="Wingdings" panose="05000000000000000000" pitchFamily="2" charset="2"/>
              <a:buChar char="§"/>
            </a:pPr>
            <a:r>
              <a:rPr lang="en-US" dirty="0"/>
              <a:t>Interesting and practical problem, thorough literature survey, clear demonstration of what’s new compared to existing work, correct use of machine learning algorithms and understanding of concepts (such as cross validation, overfitting, etc.)</a:t>
            </a:r>
          </a:p>
          <a:p>
            <a:pPr>
              <a:buFont typeface="Wingdings" panose="05000000000000000000" pitchFamily="2" charset="2"/>
              <a:buChar char="§"/>
            </a:pPr>
            <a:r>
              <a:rPr lang="en-US" dirty="0"/>
              <a:t>5 points for presentation, organization, and clarity</a:t>
            </a:r>
          </a:p>
          <a:p>
            <a:pPr lvl="1">
              <a:buFont typeface="Wingdings" panose="05000000000000000000" pitchFamily="2" charset="2"/>
              <a:buChar char="§"/>
            </a:pPr>
            <a:r>
              <a:rPr lang="en-US" dirty="0"/>
              <a:t>Clear writing, clear organization, clear figures and tables (make sure every figure has a title/number and its axes are labeled, explain every table/figure in the report, explain the purpose of every experiment) </a:t>
            </a:r>
            <a:br>
              <a:rPr lang="en-US" dirty="0"/>
            </a:br>
            <a:endParaRPr dirty="0"/>
          </a:p>
        </p:txBody>
      </p:sp>
    </p:spTree>
    <p:extLst>
      <p:ext uri="{BB962C8B-B14F-4D97-AF65-F5344CB8AC3E}">
        <p14:creationId xmlns:p14="http://schemas.microsoft.com/office/powerpoint/2010/main" val="3684592156"/>
      </p:ext>
    </p:extLst>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35</TotalTime>
  <Words>942</Words>
  <Application>Microsoft Office PowerPoint</Application>
  <PresentationFormat>Widescreen</PresentationFormat>
  <Paragraphs>96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Noto Sans Symbols</vt:lpstr>
      <vt:lpstr>Wingdings</vt:lpstr>
      <vt:lpstr>Wisp</vt:lpstr>
      <vt:lpstr>MITM 431: Big Data Analytics More Info. on Project</vt:lpstr>
      <vt:lpstr>MITM 431: Big Data Analytics</vt:lpstr>
      <vt:lpstr>MITM 431: Big Data Analytics</vt:lpstr>
      <vt:lpstr>MITM 431: Big Data Analytics</vt:lpstr>
      <vt:lpstr>MITM 431: Big Data Analytics</vt:lpstr>
      <vt:lpstr>MITM 431: Big Data Analytics</vt:lpstr>
      <vt:lpstr>MITM 431: Big Data Analytics</vt:lpstr>
      <vt:lpstr>MITM 431: Big Data Analytics</vt:lpstr>
      <vt:lpstr>MITM 431: Big Data Analytics</vt:lpstr>
      <vt:lpstr>MITM 431: Big Data Analytics</vt:lpstr>
      <vt:lpstr>MITM 431: Big Data Analytics</vt:lpstr>
      <vt:lpstr>MITM 431: Big Data Analytics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Khaled Mostafa Shah</dc:creator>
  <cp:lastModifiedBy>Shah Khaled</cp:lastModifiedBy>
  <cp:revision>13</cp:revision>
  <dcterms:created xsi:type="dcterms:W3CDTF">2025-08-17T04:39:25Z</dcterms:created>
  <dcterms:modified xsi:type="dcterms:W3CDTF">2026-03-11T07:00:14Z</dcterms:modified>
</cp:coreProperties>
</file>